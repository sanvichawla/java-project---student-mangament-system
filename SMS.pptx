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8" r:id="rId7"/>
    <p:sldId id="271" r:id="rId8"/>
    <p:sldId id="267" r:id="rId9"/>
    <p:sldId id="268" r:id="rId10"/>
    <p:sldId id="272" r:id="rId11"/>
    <p:sldId id="273" r:id="rId12"/>
    <p:sldId id="274" r:id="rId13"/>
    <p:sldId id="275" r:id="rId14"/>
    <p:sldId id="277" r:id="rId15"/>
    <p:sldId id="279" r:id="rId16"/>
    <p:sldId id="265" r:id="rId17"/>
    <p:sldId id="280" r:id="rId18"/>
    <p:sldId id="282" r:id="rId19"/>
    <p:sldId id="281" r:id="rId20"/>
  </p:sldIdLst>
  <p:sldSz cx="18288000" cy="10287000"/>
  <p:notesSz cx="6858000" cy="9144000"/>
  <p:embeddedFontLst>
    <p:embeddedFont>
      <p:font typeface="Aileron Bold" panose="020B0604020202020204" charset="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A1D"/>
    <a:srgbClr val="030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44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3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4049290"/>
            <a:ext cx="15887700" cy="2235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265"/>
              </a:lnSpc>
            </a:pPr>
            <a:r>
              <a:rPr lang="en-US" sz="8800" b="1" spc="-749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Student  Management 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424241"/>
            <a:ext cx="5689197" cy="61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5"/>
              </a:lnSpc>
            </a:pPr>
            <a:r>
              <a:rPr lang="en-US" sz="4595" spc="-170" dirty="0">
                <a:solidFill>
                  <a:srgbClr val="FFFFFF">
                    <a:alpha val="36863"/>
                  </a:srgbClr>
                </a:solidFill>
                <a:latin typeface="Aileron" panose="00000500000000000000"/>
                <a:ea typeface="Aileron" panose="00000500000000000000"/>
                <a:cs typeface="Aileron" panose="00000500000000000000"/>
                <a:sym typeface="Aileron" panose="00000500000000000000"/>
              </a:rPr>
              <a:t>Capstone 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645042"/>
            <a:ext cx="3490028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Presented by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041546"/>
            <a:ext cx="16725900" cy="375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FFFFFF"/>
                </a:solidFill>
                <a:latin typeface="Aileron" panose="00000500000000000000"/>
                <a:ea typeface="Aileron" panose="00000500000000000000"/>
                <a:cs typeface="Aileron" panose="00000500000000000000"/>
                <a:sym typeface="Aileron" panose="00000500000000000000"/>
              </a:rPr>
              <a:t>Sharanya Mahajan 590012704 | Sanvi Chawla 590018244 | Prisha </a:t>
            </a:r>
            <a:r>
              <a:rPr lang="en-US" sz="2300" dirty="0" err="1">
                <a:solidFill>
                  <a:srgbClr val="FFFFFF"/>
                </a:solidFill>
                <a:latin typeface="Aileron" panose="00000500000000000000"/>
                <a:ea typeface="Aileron" panose="00000500000000000000"/>
                <a:cs typeface="Aileron" panose="00000500000000000000"/>
                <a:sym typeface="Aileron" panose="00000500000000000000"/>
              </a:rPr>
              <a:t>Pokra</a:t>
            </a:r>
            <a:r>
              <a:rPr lang="en-US" sz="2300" dirty="0">
                <a:solidFill>
                  <a:srgbClr val="FFFFFF"/>
                </a:solidFill>
                <a:latin typeface="Aileron" panose="00000500000000000000"/>
                <a:ea typeface="Aileron" panose="00000500000000000000"/>
                <a:cs typeface="Aileron" panose="00000500000000000000"/>
                <a:sym typeface="Aileron" panose="00000500000000000000"/>
              </a:rPr>
              <a:t> 590013227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665" y="-368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4" name="TextBox 14"/>
          <p:cNvSpPr txBox="1"/>
          <p:nvPr/>
        </p:nvSpPr>
        <p:spPr>
          <a:xfrm>
            <a:off x="1028700" y="896204"/>
            <a:ext cx="113919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Technologies Used</a:t>
            </a: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19200" y="2781300"/>
            <a:ext cx="147066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Aileron" panose="00000500000000000000" charset="0"/>
              </a:rPr>
              <a:t>1. Java</a:t>
            </a:r>
          </a:p>
          <a:p>
            <a:r>
              <a:rPr lang="en-IN" sz="2800" dirty="0">
                <a:solidFill>
                  <a:schemeClr val="bg1"/>
                </a:solidFill>
                <a:latin typeface="Aileron" panose="00000500000000000000" charset="0"/>
              </a:rPr>
              <a:t>Core programming language.</a:t>
            </a:r>
          </a:p>
          <a:p>
            <a:endParaRPr lang="en-IN" sz="2800" dirty="0">
              <a:solidFill>
                <a:schemeClr val="bg1"/>
              </a:solidFill>
              <a:latin typeface="Aileron" panose="00000500000000000000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Aileron" panose="00000500000000000000" charset="0"/>
              </a:rPr>
              <a:t>2. Java Swing</a:t>
            </a:r>
          </a:p>
          <a:p>
            <a:r>
              <a:rPr lang="en-IN" sz="2800" dirty="0">
                <a:solidFill>
                  <a:schemeClr val="bg1"/>
                </a:solidFill>
                <a:latin typeface="Aileron" panose="00000500000000000000" charset="0"/>
              </a:rPr>
              <a:t>Used for graphical interface.</a:t>
            </a:r>
          </a:p>
          <a:p>
            <a:endParaRPr lang="en-IN" sz="2800" dirty="0">
              <a:solidFill>
                <a:schemeClr val="bg1"/>
              </a:solidFill>
              <a:latin typeface="Aileron" panose="00000500000000000000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Aileron" panose="00000500000000000000" charset="0"/>
              </a:rPr>
              <a:t>3. </a:t>
            </a:r>
            <a:r>
              <a:rPr lang="en-IN" sz="2800" b="1" dirty="0" err="1">
                <a:solidFill>
                  <a:schemeClr val="bg1"/>
                </a:solidFill>
                <a:latin typeface="Aileron" panose="00000500000000000000" charset="0"/>
              </a:rPr>
              <a:t>ArrayList</a:t>
            </a:r>
            <a:endParaRPr lang="en-IN" sz="2800" b="1" dirty="0">
              <a:solidFill>
                <a:schemeClr val="bg1"/>
              </a:solidFill>
              <a:latin typeface="Aileron" panose="00000500000000000000" charset="0"/>
            </a:endParaRPr>
          </a:p>
          <a:p>
            <a:r>
              <a:rPr lang="en-IN" sz="2800" dirty="0">
                <a:solidFill>
                  <a:schemeClr val="bg1"/>
                </a:solidFill>
                <a:latin typeface="Aileron" panose="00000500000000000000" charset="0"/>
              </a:rPr>
              <a:t>Used to store student records dynamically.</a:t>
            </a:r>
          </a:p>
          <a:p>
            <a:endParaRPr lang="en-IN" sz="2800" dirty="0">
              <a:solidFill>
                <a:schemeClr val="bg1"/>
              </a:solidFill>
              <a:latin typeface="Aileron" panose="00000500000000000000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Aileron" panose="00000500000000000000" charset="0"/>
              </a:rPr>
              <a:t>4. OOP Concepts</a:t>
            </a:r>
          </a:p>
          <a:p>
            <a:r>
              <a:rPr lang="en-IN" sz="2800" dirty="0">
                <a:solidFill>
                  <a:schemeClr val="bg1"/>
                </a:solidFill>
                <a:latin typeface="Aileron" panose="00000500000000000000" charset="0"/>
              </a:rPr>
              <a:t>Used for modular design.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bg1"/>
                </a:solidFill>
                <a:latin typeface="Aileron" panose="00000500000000000000" charset="0"/>
              </a:rPr>
              <a:t> 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8700" y="863274"/>
            <a:ext cx="121539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Main Menu(Entry Screen)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68000" y="5278376"/>
            <a:ext cx="436647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Project Folder Structure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5906" y="8768018"/>
            <a:ext cx="436647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Main Menu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015" y="2658745"/>
            <a:ext cx="4623435" cy="245872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1" y="2272194"/>
            <a:ext cx="7786688" cy="6243667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0896600" y="6057900"/>
            <a:ext cx="5664835" cy="3510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>
                <a:solidFill>
                  <a:schemeClr val="bg1"/>
                </a:solidFill>
                <a:latin typeface="Aileron" panose="00000500000000000000" charset="0"/>
                <a:cs typeface="Aileron" panose="00000500000000000000" charset="0"/>
              </a:rPr>
              <a:t>Program starts </a:t>
            </a:r>
          </a:p>
          <a:p>
            <a:pPr algn="ctr"/>
            <a:endParaRPr lang="en-US" altLang="en-US">
              <a:solidFill>
                <a:schemeClr val="bg1"/>
              </a:solidFill>
              <a:latin typeface="Aileron" panose="00000500000000000000" charset="0"/>
              <a:cs typeface="Aileron" panose="00000500000000000000" charset="0"/>
            </a:endParaRPr>
          </a:p>
          <a:p>
            <a:pPr algn="ctr"/>
            <a:endParaRPr lang="en-US" altLang="en-US">
              <a:solidFill>
                <a:schemeClr val="bg1"/>
              </a:solidFill>
              <a:latin typeface="Aileron" panose="00000500000000000000" charset="0"/>
              <a:cs typeface="Aileron" panose="00000500000000000000" charset="0"/>
            </a:endParaRPr>
          </a:p>
          <a:p>
            <a:pPr algn="ctr"/>
            <a:r>
              <a:rPr lang="en-US" altLang="en-US">
                <a:solidFill>
                  <a:schemeClr val="bg1"/>
                </a:solidFill>
                <a:latin typeface="Aileron" panose="00000500000000000000" charset="0"/>
                <a:cs typeface="Aileron" panose="00000500000000000000" charset="0"/>
              </a:rPr>
              <a:t>GUI opens </a:t>
            </a:r>
          </a:p>
          <a:p>
            <a:pPr algn="ctr"/>
            <a:endParaRPr lang="en-US" altLang="en-US">
              <a:solidFill>
                <a:schemeClr val="bg1"/>
              </a:solidFill>
              <a:latin typeface="Aileron" panose="00000500000000000000" charset="0"/>
              <a:cs typeface="Aileron" panose="00000500000000000000" charset="0"/>
            </a:endParaRPr>
          </a:p>
          <a:p>
            <a:pPr algn="ctr"/>
            <a:endParaRPr lang="en-US" altLang="en-US">
              <a:solidFill>
                <a:schemeClr val="bg1"/>
              </a:solidFill>
              <a:latin typeface="Aileron" panose="00000500000000000000" charset="0"/>
              <a:cs typeface="Aileron" panose="00000500000000000000" charset="0"/>
            </a:endParaRPr>
          </a:p>
          <a:p>
            <a:pPr algn="ctr"/>
            <a:r>
              <a:rPr lang="en-US" altLang="en-US">
                <a:solidFill>
                  <a:schemeClr val="bg1"/>
                </a:solidFill>
                <a:latin typeface="Aileron" panose="00000500000000000000" charset="0"/>
                <a:cs typeface="Aileron" panose="00000500000000000000" charset="0"/>
              </a:rPr>
              <a:t>user clicks button</a:t>
            </a:r>
          </a:p>
          <a:p>
            <a:pPr algn="ctr"/>
            <a:endParaRPr lang="en-US" altLang="en-US">
              <a:solidFill>
                <a:schemeClr val="bg1"/>
              </a:solidFill>
              <a:latin typeface="Aileron" panose="00000500000000000000" charset="0"/>
              <a:cs typeface="Aileron" panose="00000500000000000000" charset="0"/>
            </a:endParaRPr>
          </a:p>
          <a:p>
            <a:pPr algn="ctr"/>
            <a:endParaRPr lang="en-US" altLang="en-US">
              <a:solidFill>
                <a:schemeClr val="bg1"/>
              </a:solidFill>
              <a:latin typeface="Aileron" panose="00000500000000000000" charset="0"/>
              <a:cs typeface="Aileron" panose="00000500000000000000" charset="0"/>
            </a:endParaRPr>
          </a:p>
          <a:p>
            <a:pPr algn="ctr"/>
            <a:r>
              <a:rPr lang="en-US" altLang="en-US">
                <a:solidFill>
                  <a:schemeClr val="bg1"/>
                </a:solidFill>
                <a:latin typeface="Aileron" panose="00000500000000000000" charset="0"/>
                <a:cs typeface="Aileron" panose="00000500000000000000" charset="0"/>
              </a:rPr>
              <a:t>manager processes</a:t>
            </a:r>
          </a:p>
          <a:p>
            <a:pPr algn="ctr"/>
            <a:endParaRPr lang="en-US" altLang="en-US">
              <a:solidFill>
                <a:schemeClr val="bg1"/>
              </a:solidFill>
              <a:latin typeface="Aileron" panose="00000500000000000000" charset="0"/>
              <a:cs typeface="Aileron" panose="00000500000000000000" charset="0"/>
            </a:endParaRPr>
          </a:p>
          <a:p>
            <a:pPr algn="ctr"/>
            <a:endParaRPr lang="en-US" altLang="en-US">
              <a:solidFill>
                <a:schemeClr val="bg1"/>
              </a:solidFill>
              <a:latin typeface="Aileron" panose="00000500000000000000" charset="0"/>
              <a:cs typeface="Aileron" panose="00000500000000000000" charset="0"/>
            </a:endParaRPr>
          </a:p>
          <a:p>
            <a:pPr algn="ctr"/>
            <a:r>
              <a:rPr lang="en-US" altLang="en-US">
                <a:solidFill>
                  <a:schemeClr val="bg1"/>
                </a:solidFill>
                <a:latin typeface="Aileron" panose="00000500000000000000" charset="0"/>
                <a:cs typeface="Aileron" panose="00000500000000000000" charset="0"/>
              </a:rPr>
              <a:t>data stored.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3726795" y="9105900"/>
            <a:ext cx="0" cy="21463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3726795" y="8267700"/>
            <a:ext cx="0" cy="21463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3716000" y="7353300"/>
            <a:ext cx="0" cy="21463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3726795" y="6515100"/>
            <a:ext cx="0" cy="21463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19200" y="926930"/>
            <a:ext cx="123063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Concepts Used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1658" y="2750806"/>
            <a:ext cx="5717947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Inheritance: </a:t>
            </a:r>
            <a:r>
              <a:rPr lang="en-US" altLang="en-US" sz="2400" dirty="0">
                <a:solidFill>
                  <a:schemeClr val="bg1"/>
                </a:solidFill>
                <a:latin typeface="Aileron" panose="00000500000000000000" charset="0"/>
              </a:rPr>
              <a:t>The Student class inherits properties from the Person class.</a:t>
            </a:r>
            <a:r>
              <a:rPr lang="en-US" sz="2500" b="1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 </a:t>
            </a:r>
          </a:p>
        </p:txBody>
      </p:sp>
      <p:sp>
        <p:nvSpPr>
          <p:cNvPr id="12" name="AutoShape 2"/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278" y="7833251"/>
            <a:ext cx="5381625" cy="10191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278" y="2657497"/>
            <a:ext cx="5857875" cy="1047750"/>
          </a:xfrm>
          <a:prstGeom prst="rect">
            <a:avLst/>
          </a:prstGeom>
        </p:spPr>
      </p:pic>
      <p:sp>
        <p:nvSpPr>
          <p:cNvPr id="21" name="TextBox 10"/>
          <p:cNvSpPr txBox="1"/>
          <p:nvPr/>
        </p:nvSpPr>
        <p:spPr>
          <a:xfrm>
            <a:off x="1296872" y="4264824"/>
            <a:ext cx="5717947" cy="1756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Polymorphism: </a:t>
            </a:r>
            <a:r>
              <a:rPr lang="en-US" altLang="en-US" sz="2400" dirty="0">
                <a:solidFill>
                  <a:schemeClr val="bg1"/>
                </a:solidFill>
                <a:latin typeface="Aileron" panose="00000500000000000000" charset="0"/>
              </a:rPr>
              <a:t>Method </a:t>
            </a:r>
            <a:r>
              <a:rPr lang="en-US" altLang="en-US" sz="2400" dirty="0" err="1">
                <a:solidFill>
                  <a:schemeClr val="bg1"/>
                </a:solidFill>
                <a:latin typeface="Aileron" panose="00000500000000000000" charset="0"/>
              </a:rPr>
              <a:t>getDetails</a:t>
            </a:r>
            <a:r>
              <a:rPr lang="en-US" altLang="en-US" sz="2400" dirty="0">
                <a:solidFill>
                  <a:schemeClr val="bg1"/>
                </a:solidFill>
                <a:latin typeface="Aileron" panose="00000500000000000000" charset="0"/>
              </a:rPr>
              <a:t>() is overridden to provide specific </a:t>
            </a:r>
            <a:r>
              <a:rPr lang="en-US" altLang="en-US" sz="2400" dirty="0" err="1">
                <a:solidFill>
                  <a:schemeClr val="bg1"/>
                </a:solidFill>
                <a:latin typeface="Aileron" panose="00000500000000000000" charset="0"/>
              </a:rPr>
              <a:t>behaviour</a:t>
            </a:r>
            <a:r>
              <a:rPr lang="en-US" altLang="en-US" sz="2400" dirty="0">
                <a:solidFill>
                  <a:schemeClr val="bg1"/>
                </a:solidFill>
                <a:latin typeface="Aileron" panose="00000500000000000000" charset="0"/>
              </a:rPr>
              <a:t>.</a:t>
            </a:r>
          </a:p>
          <a:p>
            <a:pPr marL="342900" indent="-3429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500" b="1" dirty="0">
              <a:solidFill>
                <a:srgbClr val="FFFFFF"/>
              </a:solidFill>
              <a:latin typeface="Aileron Bold" panose="00000800000000000000"/>
              <a:ea typeface="Aileron Bold" panose="00000800000000000000"/>
              <a:cs typeface="Aileron Bold" panose="00000800000000000000"/>
              <a:sym typeface="Aileron Bold" panose="00000800000000000000"/>
            </a:endParaRPr>
          </a:p>
        </p:txBody>
      </p:sp>
      <p:sp>
        <p:nvSpPr>
          <p:cNvPr id="23" name="TextBox 10"/>
          <p:cNvSpPr txBox="1"/>
          <p:nvPr/>
        </p:nvSpPr>
        <p:spPr>
          <a:xfrm>
            <a:off x="1279666" y="6171931"/>
            <a:ext cx="7483334" cy="1492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500" b="1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    Encapsulation: </a:t>
            </a:r>
            <a:r>
              <a:rPr lang="en-US" altLang="en-US" sz="2400" dirty="0">
                <a:solidFill>
                  <a:schemeClr val="bg1"/>
                </a:solidFill>
                <a:latin typeface="Aileron" panose="00000500000000000000" charset="0"/>
              </a:rPr>
              <a:t>Data is hidden using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Aileron" panose="00000500000000000000" charset="0"/>
              </a:rPr>
              <a:t>      private variables and accessed through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Aileron" panose="00000500000000000000" charset="0"/>
              </a:rPr>
              <a:t>      methods.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solidFill>
                <a:schemeClr val="bg1"/>
              </a:solidFill>
              <a:latin typeface="Aileron" panose="00000500000000000000" charset="0"/>
            </a:endParaRPr>
          </a:p>
        </p:txBody>
      </p:sp>
      <p:sp>
        <p:nvSpPr>
          <p:cNvPr id="24" name="TextBox 10"/>
          <p:cNvSpPr txBox="1"/>
          <p:nvPr/>
        </p:nvSpPr>
        <p:spPr>
          <a:xfrm>
            <a:off x="1296872" y="8198401"/>
            <a:ext cx="5717947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Abstraction: </a:t>
            </a:r>
            <a:r>
              <a:rPr lang="en-US" altLang="en-US" sz="2400" dirty="0">
                <a:solidFill>
                  <a:schemeClr val="bg1"/>
                </a:solidFill>
                <a:latin typeface="Aileron" panose="00000500000000000000" charset="0"/>
              </a:rPr>
              <a:t>The abstract Person class hides implementation details.</a:t>
            </a:r>
          </a:p>
          <a:p>
            <a:pPr marL="342900" indent="-342900" algn="l">
              <a:lnSpc>
                <a:spcPts val="35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500" b="1" dirty="0">
              <a:solidFill>
                <a:srgbClr val="FFFFFF"/>
              </a:solidFill>
              <a:latin typeface="Aileron Bold" panose="00000800000000000000"/>
              <a:ea typeface="Aileron Bold" panose="00000800000000000000"/>
              <a:cs typeface="Aileron Bold" panose="00000800000000000000"/>
              <a:sym typeface="Aileron Bold" panose="0000080000000000000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7278" y="3976920"/>
            <a:ext cx="9286875" cy="268605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7278" y="6934643"/>
            <a:ext cx="4114800" cy="5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004119" y="952500"/>
            <a:ext cx="716975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Interface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4119" y="2171700"/>
            <a:ext cx="116205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Aileron" panose="00000500000000000000"/>
                <a:ea typeface="Aileron" panose="00000500000000000000"/>
                <a:cs typeface="Aileron" panose="00000500000000000000"/>
                <a:sym typeface="Aileron" panose="00000500000000000000"/>
              </a:rPr>
              <a:t>In Java, an interface is a blueprint that defines what methods a class must implement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45"/>
          <a:stretch>
            <a:fillRect/>
          </a:stretch>
        </p:blipFill>
        <p:spPr>
          <a:xfrm>
            <a:off x="1006577" y="2711538"/>
            <a:ext cx="7680223" cy="9144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025" y="2711538"/>
            <a:ext cx="9048750" cy="6934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004118" y="952500"/>
            <a:ext cx="996868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Operations Involved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4118" y="2171700"/>
            <a:ext cx="1751248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Aileron" panose="00000500000000000000"/>
                <a:ea typeface="Aileron" panose="00000500000000000000"/>
                <a:cs typeface="Aileron" panose="00000500000000000000"/>
                <a:sym typeface="Aileron" panose="00000500000000000000"/>
              </a:rPr>
              <a:t>Add Student: The system first validates the input. If the data is valid, a new Student object is created and stored in the array list.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822" y="3162300"/>
            <a:ext cx="11476356" cy="60611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004118" y="952500"/>
            <a:ext cx="996868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Operations Involved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4118" y="2171700"/>
            <a:ext cx="1652188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Aileron" panose="00000500000000000000"/>
                <a:ea typeface="Aileron" panose="00000500000000000000"/>
                <a:cs typeface="Aileron" panose="00000500000000000000"/>
                <a:sym typeface="Aileron" panose="00000500000000000000"/>
              </a:rPr>
              <a:t>Delete Student: The system searches for the student in the Array List, and if a match is found, the record is removed.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2826643"/>
            <a:ext cx="11620500" cy="61617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004118" y="952500"/>
            <a:ext cx="996868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Operations Involved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4118" y="2171700"/>
            <a:ext cx="1675048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Aileron" panose="00000500000000000000"/>
                <a:ea typeface="Aileron" panose="00000500000000000000"/>
                <a:cs typeface="Aileron" panose="00000500000000000000"/>
                <a:sym typeface="Aileron" panose="00000500000000000000"/>
              </a:rPr>
              <a:t>Search Students: If Student is found ,their details are displayed. Otherwise, a message is shown that the student does not exist.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3105669"/>
            <a:ext cx="11734800" cy="62288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004118" y="952500"/>
            <a:ext cx="996868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Operations Involved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4118" y="2171700"/>
            <a:ext cx="15988481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8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Aileron" panose="00000500000000000000"/>
                <a:ea typeface="Aileron" panose="00000500000000000000"/>
                <a:cs typeface="Aileron" panose="00000500000000000000"/>
                <a:sym typeface="Aileron" panose="00000500000000000000"/>
              </a:rPr>
              <a:t>Show All Students: It displays all student records stored in the system in a structured format.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3248894"/>
            <a:ext cx="11933555" cy="632771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305800" y="5753100"/>
            <a:ext cx="3810000" cy="1828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23498"/>
            <a:ext cx="6019800" cy="709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6"/>
          <p:cNvSpPr txBox="1"/>
          <p:nvPr/>
        </p:nvSpPr>
        <p:spPr>
          <a:xfrm>
            <a:off x="1004118" y="952500"/>
            <a:ext cx="1614088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Custom Exception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74559" y="4404836"/>
            <a:ext cx="8763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ileron" panose="00000500000000000000" charset="0"/>
              </a:rPr>
              <a:t>A </a:t>
            </a:r>
            <a:r>
              <a:rPr lang="en-US" sz="2400" b="1" dirty="0">
                <a:solidFill>
                  <a:schemeClr val="bg1"/>
                </a:solidFill>
                <a:latin typeface="Aileron" panose="00000500000000000000" charset="0"/>
              </a:rPr>
              <a:t>custom exception</a:t>
            </a:r>
            <a:r>
              <a:rPr lang="en-US" sz="2400" dirty="0">
                <a:solidFill>
                  <a:schemeClr val="bg1"/>
                </a:solidFill>
                <a:latin typeface="Aileron" panose="00000500000000000000" charset="0"/>
              </a:rPr>
              <a:t> is created to handle all student-related errors in a centralized, clean way — ensuring the application responds gracefully to invalid input.</a:t>
            </a: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004118" y="952500"/>
            <a:ext cx="1423588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chemeClr val="bg1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When Exceptions are thrown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4119" y="2171700"/>
            <a:ext cx="116205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Aileron" panose="00000500000000000000"/>
              <a:ea typeface="Aileron" panose="00000500000000000000"/>
              <a:cs typeface="Aileron" panose="00000500000000000000"/>
              <a:sym typeface="Aileron" panose="0000050000000000000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3615" y="2257847"/>
            <a:ext cx="14693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ileron" panose="00000500000000000000" charset="0"/>
              </a:rPr>
              <a:t>The program throws a custom exception under the following conditions:</a:t>
            </a:r>
            <a:endParaRPr lang="en-IN" sz="2400" dirty="0">
              <a:solidFill>
                <a:schemeClr val="bg1"/>
              </a:solidFill>
              <a:latin typeface="Aileron" panose="00000500000000000000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840162"/>
            <a:ext cx="12826928" cy="4916189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97"/>
          <a:stretch>
            <a:fillRect/>
          </a:stretch>
        </p:blipFill>
        <p:spPr bwMode="auto">
          <a:xfrm>
            <a:off x="8608208" y="8210849"/>
            <a:ext cx="9239250" cy="179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004118" y="952500"/>
            <a:ext cx="996868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What is java Swing?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4118" y="2171700"/>
            <a:ext cx="16293281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latin typeface="Aileron" panose="00000500000000000000" charset="0"/>
              </a:rPr>
              <a:t>Java Swing is a </a:t>
            </a:r>
            <a:r>
              <a:rPr lang="en-US" sz="2400" b="1" dirty="0">
                <a:solidFill>
                  <a:schemeClr val="bg1"/>
                </a:solidFill>
                <a:latin typeface="Aileron" panose="00000500000000000000" charset="0"/>
              </a:rPr>
              <a:t>GUI framework</a:t>
            </a:r>
            <a:r>
              <a:rPr lang="en-US" sz="2400" dirty="0">
                <a:solidFill>
                  <a:schemeClr val="bg1"/>
                </a:solidFill>
                <a:latin typeface="Aileron" panose="00000500000000000000" charset="0"/>
              </a:rPr>
              <a:t> in Java used to build desktop applications. It provides a rich set of ready-to-use components for creating interactive windows, forms, and dialogs.</a:t>
            </a:r>
          </a:p>
          <a:p>
            <a:pPr>
              <a:lnSpc>
                <a:spcPts val="2800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Aileron" panose="00000500000000000000"/>
              <a:ea typeface="Aileron" panose="00000500000000000000"/>
              <a:cs typeface="Aileron" panose="00000500000000000000"/>
              <a:sym typeface="Aileron" panose="0000050000000000000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1" y="3248918"/>
            <a:ext cx="3791786" cy="6852791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458" y="5053459"/>
            <a:ext cx="9629775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2"/>
          <p:cNvSpPr txBox="1"/>
          <p:nvPr/>
        </p:nvSpPr>
        <p:spPr>
          <a:xfrm>
            <a:off x="6196330" y="7186295"/>
            <a:ext cx="93484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>
                <a:solidFill>
                  <a:schemeClr val="bg1"/>
                </a:solidFill>
                <a:latin typeface="Aileron" panose="00000500000000000000" charset="0"/>
                <a:cs typeface="Aileron" panose="00000500000000000000" charset="0"/>
              </a:rPr>
              <a:t>The class behaves like a window in Java Swing.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US">
                <a:solidFill>
                  <a:schemeClr val="bg1"/>
                </a:solidFill>
                <a:latin typeface="Aileron" panose="00000500000000000000" charset="0"/>
                <a:cs typeface="Aileron" panose="00000500000000000000" charset="0"/>
              </a:rPr>
              <a:t>creation of private object of StudentManager called manager which is responsible for handling all student realated operations.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004118" y="952500"/>
            <a:ext cx="996868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Setting Up the Window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42280" y="2759110"/>
            <a:ext cx="6557197" cy="5775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Aileron" panose="00000500000000000000" charset="0"/>
              </a:rPr>
              <a:t>JFrame</a:t>
            </a:r>
            <a:r>
              <a:rPr lang="en-US" sz="3200" b="1" dirty="0">
                <a:solidFill>
                  <a:schemeClr val="bg1"/>
                </a:solidFill>
                <a:latin typeface="Aileron" panose="00000500000000000000" charset="0"/>
              </a:rPr>
              <a:t> — First Step</a:t>
            </a:r>
          </a:p>
          <a:p>
            <a:r>
              <a:rPr lang="en-US" sz="3200" dirty="0">
                <a:solidFill>
                  <a:schemeClr val="bg1"/>
                </a:solidFill>
                <a:latin typeface="Aileron" panose="00000500000000000000" charset="0"/>
              </a:rPr>
              <a:t>The </a:t>
            </a:r>
            <a:r>
              <a:rPr lang="en-US" sz="3200" b="1" dirty="0" err="1">
                <a:solidFill>
                  <a:schemeClr val="bg1"/>
                </a:solidFill>
                <a:latin typeface="Aileron" panose="00000500000000000000" charset="0"/>
              </a:rPr>
              <a:t>JFrame</a:t>
            </a:r>
            <a:r>
              <a:rPr lang="en-US" sz="3200" dirty="0">
                <a:solidFill>
                  <a:schemeClr val="bg1"/>
                </a:solidFill>
                <a:latin typeface="Aileron" panose="00000500000000000000" charset="0"/>
              </a:rPr>
              <a:t> is the foundation — it creates the main window that holds all other components.</a:t>
            </a:r>
          </a:p>
          <a:p>
            <a:endParaRPr lang="en-US" sz="3200" dirty="0">
              <a:solidFill>
                <a:schemeClr val="bg1"/>
              </a:solidFill>
              <a:latin typeface="Aileron" panose="00000500000000000000" charset="0"/>
            </a:endParaRPr>
          </a:p>
          <a:p>
            <a:endParaRPr lang="en-US" sz="3200" dirty="0">
              <a:solidFill>
                <a:schemeClr val="bg1"/>
              </a:solidFill>
              <a:latin typeface="Aileron" panose="00000500000000000000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Aileron" panose="00000500000000000000" charset="0"/>
              </a:rPr>
              <a:t>Window Setup</a:t>
            </a:r>
          </a:p>
          <a:p>
            <a:r>
              <a:rPr lang="en-US" sz="3200" dirty="0">
                <a:solidFill>
                  <a:schemeClr val="bg1"/>
                </a:solidFill>
                <a:latin typeface="Aileron" panose="00000500000000000000" charset="0"/>
              </a:rPr>
              <a:t>Properties like title, size, close operation, and visibility are configured to prepare the application window for use.</a:t>
            </a:r>
          </a:p>
          <a:p>
            <a:pPr>
              <a:lnSpc>
                <a:spcPts val="2800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Aileron" panose="00000500000000000000"/>
              <a:ea typeface="Aileron" panose="00000500000000000000"/>
              <a:cs typeface="Aileron" panose="00000500000000000000"/>
              <a:sym typeface="Aileron" panose="0000050000000000000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865" y="2790245"/>
            <a:ext cx="1007745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81" y="5790635"/>
            <a:ext cx="10360292" cy="228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5A9C6D-AFA3-FC1E-83EE-AA25AE46D1F6}"/>
              </a:ext>
            </a:extLst>
          </p:cNvPr>
          <p:cNvSpPr txBox="1"/>
          <p:nvPr/>
        </p:nvSpPr>
        <p:spPr>
          <a:xfrm>
            <a:off x="1004117" y="8801100"/>
            <a:ext cx="169953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ileron" panose="00000500000000000000"/>
              </a:rPr>
              <a:t>These are single line input fields using </a:t>
            </a:r>
            <a:r>
              <a:rPr lang="en-IN" sz="2000" dirty="0" err="1">
                <a:solidFill>
                  <a:schemeClr val="bg1"/>
                </a:solidFill>
                <a:latin typeface="Aileron" panose="00000500000000000000"/>
              </a:rPr>
              <a:t>JTextField</a:t>
            </a:r>
            <a:r>
              <a:rPr lang="en-IN" sz="2000" dirty="0">
                <a:solidFill>
                  <a:schemeClr val="bg1"/>
                </a:solidFill>
                <a:latin typeface="Aileron" panose="0000050000000000000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Aileron" panose="00000500000000000000"/>
              </a:rPr>
              <a:t>Creation of </a:t>
            </a:r>
            <a:r>
              <a:rPr lang="en-IN" sz="2000" dirty="0" err="1">
                <a:solidFill>
                  <a:schemeClr val="bg1"/>
                </a:solidFill>
                <a:latin typeface="Aileron" panose="00000500000000000000"/>
              </a:rPr>
              <a:t>JTextArea</a:t>
            </a:r>
            <a:r>
              <a:rPr lang="en-IN" sz="2000" dirty="0">
                <a:solidFill>
                  <a:schemeClr val="bg1"/>
                </a:solidFill>
                <a:latin typeface="Aileron" panose="00000500000000000000"/>
              </a:rPr>
              <a:t> called </a:t>
            </a:r>
            <a:r>
              <a:rPr lang="en-IN" sz="2000" dirty="0" err="1">
                <a:solidFill>
                  <a:schemeClr val="bg1"/>
                </a:solidFill>
                <a:latin typeface="Aileron" panose="00000500000000000000"/>
              </a:rPr>
              <a:t>outputArea</a:t>
            </a:r>
            <a:r>
              <a:rPr lang="en-IN" sz="2000" dirty="0">
                <a:solidFill>
                  <a:schemeClr val="bg1"/>
                </a:solidFill>
                <a:latin typeface="Aileron" panose="00000500000000000000"/>
              </a:rPr>
              <a:t>, which is used to display output such as student details in multiple lines.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004119" y="762319"/>
            <a:ext cx="1370248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Swing Components in Action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6202" y="8572500"/>
            <a:ext cx="15727797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latin typeface="Aileron" panose="00000500000000000000" charset="0"/>
              </a:rPr>
              <a:t>Buttons, text fields, and labels are added to the </a:t>
            </a:r>
            <a:r>
              <a:rPr lang="en-US" sz="2400" dirty="0" err="1">
                <a:solidFill>
                  <a:schemeClr val="bg1"/>
                </a:solidFill>
                <a:latin typeface="Aileron" panose="00000500000000000000" charset="0"/>
              </a:rPr>
              <a:t>JFrame</a:t>
            </a:r>
            <a:r>
              <a:rPr lang="en-US" sz="2400" dirty="0">
                <a:solidFill>
                  <a:schemeClr val="bg1"/>
                </a:solidFill>
                <a:latin typeface="Aileron" panose="00000500000000000000" charset="0"/>
              </a:rPr>
              <a:t> to build the student management interface. Each component is configured with properties like size, position, and initial text.</a:t>
            </a:r>
          </a:p>
          <a:p>
            <a:pPr>
              <a:lnSpc>
                <a:spcPts val="2800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Aileron" panose="00000500000000000000"/>
              <a:ea typeface="Aileron" panose="00000500000000000000"/>
              <a:cs typeface="Aileron" panose="00000500000000000000"/>
              <a:sym typeface="Aileron" panose="0000050000000000000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77" y="2864148"/>
            <a:ext cx="10441923" cy="509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TextBox 6"/>
          <p:cNvSpPr txBox="1"/>
          <p:nvPr/>
        </p:nvSpPr>
        <p:spPr>
          <a:xfrm>
            <a:off x="1004118" y="952500"/>
            <a:ext cx="1294048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Layout and Screen Placement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35200" y="3467100"/>
            <a:ext cx="2800349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1"/>
                </a:solidFill>
                <a:latin typeface="Aileron" panose="00000500000000000000" charset="0"/>
              </a:rPr>
              <a:t>Components are arranged using a </a:t>
            </a:r>
            <a:r>
              <a:rPr lang="en-US" sz="2400" b="1" dirty="0">
                <a:solidFill>
                  <a:schemeClr val="bg1"/>
                </a:solidFill>
                <a:latin typeface="Aileron" panose="00000500000000000000" charset="0"/>
              </a:rPr>
              <a:t>grid layout</a:t>
            </a:r>
            <a:r>
              <a:rPr lang="en-US" sz="2400" dirty="0">
                <a:solidFill>
                  <a:schemeClr val="bg1"/>
                </a:solidFill>
                <a:latin typeface="Aileron" panose="00000500000000000000" charset="0"/>
              </a:rPr>
              <a:t> — fields are organized in rows and columns for a clean, structured interface.</a:t>
            </a:r>
          </a:p>
          <a:p>
            <a:pPr>
              <a:lnSpc>
                <a:spcPts val="2800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Aileron" panose="00000500000000000000"/>
              <a:ea typeface="Aileron" panose="00000500000000000000"/>
              <a:cs typeface="Aileron" panose="00000500000000000000"/>
              <a:sym typeface="Aileron" panose="0000050000000000000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18" y="2846377"/>
            <a:ext cx="13079665" cy="406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18" y="7499095"/>
            <a:ext cx="15994243" cy="1835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61978" y="0"/>
            <a:ext cx="16230600" cy="2212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265"/>
              </a:lnSpc>
            </a:pPr>
            <a:r>
              <a:rPr lang="en-US" sz="8000" b="1" spc="-749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Event Handling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29" y="3342930"/>
            <a:ext cx="12134778" cy="238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3732520" y="3266729"/>
            <a:ext cx="3657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ileron" panose="00000500000000000000" charset="0"/>
              </a:rPr>
              <a:t>When a user clicks a button, a </a:t>
            </a:r>
            <a:r>
              <a:rPr lang="en-US" b="1" dirty="0">
                <a:solidFill>
                  <a:schemeClr val="bg1"/>
                </a:solidFill>
                <a:latin typeface="Aileron" panose="00000500000000000000" charset="0"/>
              </a:rPr>
              <a:t>specific method executes</a:t>
            </a:r>
            <a:r>
              <a:rPr lang="en-US" dirty="0">
                <a:solidFill>
                  <a:schemeClr val="bg1"/>
                </a:solidFill>
                <a:latin typeface="Aileron" panose="00000500000000000000" charset="0"/>
              </a:rPr>
              <a:t> to handle the action.</a:t>
            </a:r>
          </a:p>
          <a:p>
            <a:endParaRPr lang="en-US" dirty="0">
              <a:solidFill>
                <a:schemeClr val="bg1"/>
              </a:solidFill>
              <a:latin typeface="Aileron" panose="00000500000000000000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Aileron" panose="00000500000000000000" charset="0"/>
              </a:rPr>
              <a:t>Example:</a:t>
            </a:r>
            <a:r>
              <a:rPr lang="en-US" dirty="0">
                <a:solidFill>
                  <a:schemeClr val="bg1"/>
                </a:solidFill>
                <a:latin typeface="Aileron" panose="00000500000000000000" charset="0"/>
              </a:rPr>
              <a:t> Click </a:t>
            </a:r>
            <a:r>
              <a:rPr lang="en-US" b="1" dirty="0">
                <a:solidFill>
                  <a:schemeClr val="bg1"/>
                </a:solidFill>
                <a:latin typeface="Aileron" panose="00000500000000000000" charset="0"/>
              </a:rPr>
              <a:t>Add</a:t>
            </a:r>
            <a:r>
              <a:rPr lang="en-US" dirty="0">
                <a:solidFill>
                  <a:schemeClr val="bg1"/>
                </a:solidFill>
                <a:latin typeface="Aileron" panose="00000500000000000000" charset="0"/>
              </a:rPr>
              <a:t> → </a:t>
            </a:r>
            <a:r>
              <a:rPr lang="en-US" dirty="0" err="1">
                <a:solidFill>
                  <a:schemeClr val="bg1"/>
                </a:solidFill>
                <a:latin typeface="Aileron" panose="00000500000000000000" charset="0"/>
              </a:rPr>
              <a:t>addStudent</a:t>
            </a:r>
            <a:r>
              <a:rPr lang="en-US" dirty="0">
                <a:solidFill>
                  <a:schemeClr val="bg1"/>
                </a:solidFill>
                <a:latin typeface="Aileron" panose="00000500000000000000" charset="0"/>
              </a:rPr>
              <a:t>() runs, validating input and storing the record.</a:t>
            </a:r>
          </a:p>
          <a:p>
            <a:endParaRPr lang="en-US" dirty="0">
              <a:solidFill>
                <a:schemeClr val="bg1"/>
              </a:solidFill>
              <a:latin typeface="Aileron" panose="00000500000000000000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ileron" panose="00000500000000000000" charset="0"/>
              </a:rPr>
              <a:t>This event-driven model keeps the interface responsive and ties each button to its corresponding logic.</a:t>
            </a:r>
          </a:p>
          <a:p>
            <a:endParaRPr lang="en-IN" dirty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71862"/>
            <a:ext cx="14829692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38200" y="-1229"/>
            <a:ext cx="17449800" cy="2212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265"/>
              </a:lnSpc>
            </a:pPr>
            <a:r>
              <a:rPr lang="en-US" sz="8800" b="1" spc="-749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Dynamic  Storage  with  Array List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r="4300"/>
          <a:stretch>
            <a:fillRect/>
          </a:stretch>
        </p:blipFill>
        <p:spPr>
          <a:xfrm>
            <a:off x="1524000" y="2552700"/>
            <a:ext cx="5105400" cy="67392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4000" y="2552700"/>
            <a:ext cx="1828800" cy="990600"/>
          </a:xfrm>
          <a:prstGeom prst="rect">
            <a:avLst/>
          </a:prstGeom>
          <a:solidFill>
            <a:srgbClr val="030A1C"/>
          </a:solidFill>
          <a:ln>
            <a:solidFill>
              <a:srgbClr val="030A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2933700"/>
            <a:ext cx="9601200" cy="60811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43000" y="-114300"/>
            <a:ext cx="11627390" cy="2212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265"/>
              </a:lnSpc>
            </a:pPr>
            <a:r>
              <a:rPr lang="en-US" sz="8000" b="1" spc="-749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3390900"/>
            <a:ext cx="13487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ileron" panose="00000500000000000000" charset="0"/>
              </a:rPr>
              <a:t>This project successfully implements:</a:t>
            </a:r>
          </a:p>
          <a:p>
            <a:endParaRPr lang="en-IN" sz="2800" dirty="0">
              <a:solidFill>
                <a:schemeClr val="bg1"/>
              </a:solidFill>
              <a:latin typeface="Aileron" panose="00000500000000000000" charset="0"/>
            </a:endParaRPr>
          </a:p>
          <a:p>
            <a:r>
              <a:rPr lang="en-IN" sz="2800" dirty="0">
                <a:solidFill>
                  <a:schemeClr val="bg1"/>
                </a:solidFill>
                <a:latin typeface="Aileron" panose="00000500000000000000" charset="0"/>
              </a:rPr>
              <a:t>✔️ Object-Oriented Programming concepts</a:t>
            </a:r>
          </a:p>
          <a:p>
            <a:r>
              <a:rPr lang="en-IN" sz="2800" dirty="0">
                <a:solidFill>
                  <a:schemeClr val="bg1"/>
                </a:solidFill>
                <a:latin typeface="Aileron" panose="00000500000000000000" charset="0"/>
              </a:rPr>
              <a:t>✔️ GUI development using Java Swing</a:t>
            </a:r>
          </a:p>
          <a:p>
            <a:r>
              <a:rPr lang="en-IN" sz="2800" dirty="0">
                <a:solidFill>
                  <a:schemeClr val="bg1"/>
                </a:solidFill>
                <a:latin typeface="Aileron" panose="00000500000000000000" charset="0"/>
              </a:rPr>
              <a:t>✔️ Exception handling and data validation</a:t>
            </a:r>
          </a:p>
          <a:p>
            <a:r>
              <a:rPr lang="en-IN" sz="2800" dirty="0">
                <a:solidFill>
                  <a:schemeClr val="bg1"/>
                </a:solidFill>
                <a:latin typeface="Aileron" panose="00000500000000000000" charset="0"/>
              </a:rPr>
              <a:t>✔️ Dynamic student record management using </a:t>
            </a:r>
            <a:r>
              <a:rPr lang="en-IN" sz="2800" dirty="0" err="1">
                <a:solidFill>
                  <a:schemeClr val="bg1"/>
                </a:solidFill>
                <a:latin typeface="Aileron" panose="00000500000000000000" charset="0"/>
              </a:rPr>
              <a:t>ArrayList</a:t>
            </a:r>
            <a:r>
              <a:rPr lang="en-IN" sz="2800" dirty="0">
                <a:solidFill>
                  <a:schemeClr val="bg1"/>
                </a:solidFill>
                <a:latin typeface="Aileron" panose="00000500000000000000" charset="0"/>
              </a:rPr>
              <a:t>.</a:t>
            </a:r>
          </a:p>
          <a:p>
            <a:endParaRPr lang="en-IN" sz="2800" dirty="0">
              <a:solidFill>
                <a:schemeClr val="bg1"/>
              </a:solidFill>
              <a:latin typeface="Aileron" panose="00000500000000000000" charset="0"/>
            </a:endParaRPr>
          </a:p>
          <a:p>
            <a:r>
              <a:rPr lang="en-IN" sz="2800" dirty="0">
                <a:solidFill>
                  <a:schemeClr val="bg1"/>
                </a:solidFill>
                <a:latin typeface="Aileron" panose="00000500000000000000" charset="0"/>
              </a:rPr>
              <a:t>It provides a simple, efficient, and user-friendly student management system</a:t>
            </a:r>
            <a:r>
              <a:rPr lang="en-IN" dirty="0">
                <a:solidFill>
                  <a:schemeClr val="bg1"/>
                </a:solidFill>
                <a:latin typeface="Aileron" panose="00000500000000000000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30305" y="3918036"/>
            <a:ext cx="11627390" cy="2450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265"/>
              </a:lnSpc>
            </a:pPr>
            <a:r>
              <a:rPr lang="en-US" sz="16900" b="1" spc="-749" dirty="0">
                <a:solidFill>
                  <a:srgbClr val="FFFFFF"/>
                </a:solidFill>
                <a:latin typeface="Aileron Bold" panose="00000800000000000000"/>
                <a:ea typeface="Aileron Bold" panose="00000800000000000000"/>
                <a:cs typeface="Aileron Bold" panose="00000800000000000000"/>
                <a:sym typeface="Aileron Bold" panose="00000800000000000000"/>
              </a:rPr>
              <a:t>Thankyou!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606</Words>
  <Application>Microsoft Office PowerPoint</Application>
  <PresentationFormat>Custom</PresentationFormat>
  <Paragraphs>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Aileron</vt:lpstr>
      <vt:lpstr>Arial</vt:lpstr>
      <vt:lpstr>Aileron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Sanvi Chawla</dc:creator>
  <cp:lastModifiedBy>Sanvi Chawla</cp:lastModifiedBy>
  <cp:revision>5</cp:revision>
  <cp:lastPrinted>2026-05-01T17:49:00Z</cp:lastPrinted>
  <dcterms:created xsi:type="dcterms:W3CDTF">2006-08-16T00:00:00Z</dcterms:created>
  <dcterms:modified xsi:type="dcterms:W3CDTF">2026-05-02T05:21:00Z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9B4999A8C0854D5B8EF72ECFFF98A8C5_13</vt:lpwstr>
  </property>
</Properties>
</file>